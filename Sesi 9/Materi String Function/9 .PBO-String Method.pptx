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5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embeddedFontLst>
    <p:embeddedFont>
      <p:font typeface="Quattrocento Sans" panose="020B0502050000020003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ealWgxoiMfqN4CvpImvcpTilZ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6D587EAA-2D6F-930F-1314-85BD08EE5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>
            <a:extLst>
              <a:ext uri="{FF2B5EF4-FFF2-40B4-BE49-F238E27FC236}">
                <a16:creationId xmlns:a16="http://schemas.microsoft.com/office/drawing/2014/main" id="{3E1AD355-A481-6751-5D40-A441F4AB2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>
            <a:extLst>
              <a:ext uri="{FF2B5EF4-FFF2-40B4-BE49-F238E27FC236}">
                <a16:creationId xmlns:a16="http://schemas.microsoft.com/office/drawing/2014/main" id="{49E85A58-AD2F-9D8B-8AAD-FC279C1AC0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926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2B5E9EC7-D3C4-9E37-F0A1-0DBD298D2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104A9CAF-1010-01AA-F49E-020297A85B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F259EFE4-454C-55AF-34C1-BD8AF0D94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6165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Slide Show mode, select the arrows to visit links.</a:t>
            </a:r>
            <a:endParaRPr/>
          </a:p>
        </p:txBody>
      </p:sp>
      <p:sp>
        <p:nvSpPr>
          <p:cNvPr id="102" name="Google Shape;10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" name="Google Shape;19;p15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/>
          <p:nvPr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2" name="Google Shape;22;p16"/>
          <p:cNvCxnSpPr/>
          <p:nvPr/>
        </p:nvCxnSpPr>
        <p:spPr>
          <a:xfrm>
            <a:off x="604434" y="1196392"/>
            <a:ext cx="10983132" cy="0"/>
          </a:xfrm>
          <a:prstGeom prst="straightConnector1">
            <a:avLst/>
          </a:prstGeom>
          <a:noFill/>
          <a:ln w="25400" cap="flat" cmpd="sng">
            <a:solidFill>
              <a:srgbClr val="D2472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16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  <a:defRPr sz="2800">
                <a:solidFill>
                  <a:srgbClr val="3A383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Quattrocento Sans"/>
              <a:buNone/>
              <a:defRPr sz="1200">
                <a:solidFill>
                  <a:srgbClr val="3F3F3F"/>
                </a:solidFill>
              </a:defRPr>
            </a:lvl1pPr>
            <a:lvl2pPr marL="914400" lvl="1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/>
          <p:nvPr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"/>
          </p:nvPr>
        </p:nvSpPr>
        <p:spPr>
          <a:xfrm>
            <a:off x="539496" y="2560320"/>
            <a:ext cx="9445752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Quattrocento Sans"/>
              <a:buNone/>
              <a:defRPr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" name="Google Shape;11;p14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 Sans"/>
              <a:buNone/>
              <a:defRPr sz="1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ftr" idx="11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ldNum" idx="12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4"/>
          <p:cNvCxnSpPr/>
          <p:nvPr/>
        </p:nvCxnSpPr>
        <p:spPr>
          <a:xfrm>
            <a:off x="604434" y="1196392"/>
            <a:ext cx="10983132" cy="0"/>
          </a:xfrm>
          <a:prstGeom prst="straightConnector1">
            <a:avLst/>
          </a:prstGeom>
          <a:noFill/>
          <a:ln w="25400" cap="flat" cmpd="sng">
            <a:solidFill>
              <a:srgbClr val="D2472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7131" y="1043407"/>
            <a:ext cx="4777594" cy="477118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"/>
          <p:cNvSpPr txBox="1">
            <a:spLocks noGrp="1"/>
          </p:cNvSpPr>
          <p:nvPr>
            <p:ph type="ctrTitle" idx="4294967295"/>
          </p:nvPr>
        </p:nvSpPr>
        <p:spPr>
          <a:xfrm>
            <a:off x="838200" y="1542942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attrocento Sans"/>
              <a:buNone/>
            </a:pPr>
            <a:r>
              <a:rPr lang="en-US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PEMROGRAMAN BERORIENTASI OBJEK</a:t>
            </a:r>
          </a:p>
        </p:txBody>
      </p:sp>
      <p:sp>
        <p:nvSpPr>
          <p:cNvPr id="40" name="Google Shape;40;p1"/>
          <p:cNvSpPr txBox="1">
            <a:spLocks noGrp="1"/>
          </p:cNvSpPr>
          <p:nvPr>
            <p:ph type="subTitle" idx="4294967295"/>
          </p:nvPr>
        </p:nvSpPr>
        <p:spPr>
          <a:xfrm>
            <a:off x="838200" y="3155527"/>
            <a:ext cx="9582736" cy="1137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ttrocento Sans"/>
              <a:buNone/>
            </a:pPr>
            <a:r>
              <a:rPr lang="id-ID" sz="24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Sesi     : IX (Sembilan)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ttrocento Sans"/>
              <a:buNone/>
            </a:pPr>
            <a:r>
              <a:rPr lang="id-ID" sz="24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Materi : </a:t>
            </a:r>
            <a:r>
              <a:rPr lang="en-US" sz="24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String Method</a:t>
            </a:r>
            <a:endParaRPr lang="id-ID" sz="2400" b="1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ttrocento Sans"/>
              <a:buNone/>
            </a:pPr>
            <a:r>
              <a:rPr lang="id-ID" sz="2400" b="1">
                <a:solidFill>
                  <a:schemeClr val="lt1"/>
                </a:solidFill>
              </a:rPr>
              <a:t>Dosen : Yulhan Wahyudin, M.Kom</a:t>
            </a:r>
            <a:endParaRPr sz="2400" b="1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PENGENALAN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541610" y="1524708"/>
            <a:ext cx="4321704" cy="387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732124" y="1611912"/>
            <a:ext cx="10727752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String adalah urutan karakter atau kumpulan dari beberapa karakter. 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Pada Pemrograman Java, String banyak digunakan dan diperlakukan sebagai objek. 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String dalam Java tidak dapat diubah setelah dibuat, artinya mengganti sebuah string dengan mengakses indeksnya tidak dapat dilakukan. 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Java menyediakan fungsi built-in untuk melakukan operasi pada String.</a:t>
            </a:r>
            <a:endParaRPr sz="36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349C50FA-BA6A-E2C0-7E7A-7A02253A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">
            <a:extLst>
              <a:ext uri="{FF2B5EF4-FFF2-40B4-BE49-F238E27FC236}">
                <a16:creationId xmlns:a16="http://schemas.microsoft.com/office/drawing/2014/main" id="{1D8F95DD-8F76-8F6A-2CB1-188C0767EF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>
            <a:extLst>
              <a:ext uri="{FF2B5EF4-FFF2-40B4-BE49-F238E27FC236}">
                <a16:creationId xmlns:a16="http://schemas.microsoft.com/office/drawing/2014/main" id="{50ED2F30-A7C6-3AC2-5A3E-7B9E4DA9DE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id-ID" sz="2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</a:t>
            </a:r>
            <a:r>
              <a:rPr lang="en-US" sz="2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ungsi built-in</a:t>
            </a:r>
            <a:r>
              <a:rPr lang="id-ID" sz="2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String dalam Java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B36A7-5D48-74A5-28AE-EE78D7307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38" y="1429935"/>
            <a:ext cx="8805987" cy="498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29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CHARAT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541610" y="1524708"/>
            <a:ext cx="4321704" cy="387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732124" y="1633298"/>
            <a:ext cx="107277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Metode charAt mempunyai 1 parameter yaitu indeks dengan return value tipe data char.</a:t>
            </a:r>
            <a:endParaRPr sz="3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274" y="3116918"/>
            <a:ext cx="7460357" cy="262342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EQUALS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541610" y="1524708"/>
            <a:ext cx="4321704" cy="387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endParaRPr sz="12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541610" y="1354262"/>
            <a:ext cx="10727752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Proses untuk membandingkan nilai sebuah String apakah sama dengan nilai variabel yang lain. </a:t>
            </a:r>
            <a:endParaRPr/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865" y="2565630"/>
            <a:ext cx="7070512" cy="359867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FB02A6E-C01D-55DB-7DBE-A05F02368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4">
            <a:extLst>
              <a:ext uri="{FF2B5EF4-FFF2-40B4-BE49-F238E27FC236}">
                <a16:creationId xmlns:a16="http://schemas.microsoft.com/office/drawing/2014/main" id="{47AE55E6-0360-3DEF-3A31-EA14387618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>
            <a:extLst>
              <a:ext uri="{FF2B5EF4-FFF2-40B4-BE49-F238E27FC236}">
                <a16:creationId xmlns:a16="http://schemas.microsoft.com/office/drawing/2014/main" id="{93B650E9-4778-4CBE-390B-CE4FD1DEFA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EQUALS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EBE547E6-E391-1477-B7EC-D7DDF176F83F}"/>
              </a:ext>
            </a:extLst>
          </p:cNvPr>
          <p:cNvSpPr txBox="1"/>
          <p:nvPr/>
        </p:nvSpPr>
        <p:spPr>
          <a:xfrm>
            <a:off x="541610" y="1524708"/>
            <a:ext cx="4321704" cy="387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endParaRPr sz="12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467B56A9-5741-F8F4-E70F-F48FA5A4A0FD}"/>
              </a:ext>
            </a:extLst>
          </p:cNvPr>
          <p:cNvSpPr txBox="1"/>
          <p:nvPr/>
        </p:nvSpPr>
        <p:spPr>
          <a:xfrm>
            <a:off x="541610" y="1354262"/>
            <a:ext cx="10727752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Proses untuk membandingkan nilai sebuah String apakah sama dengan nilai variabel yang lain. 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86D0B3-F9EF-0CC0-0582-D18DFB30B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84" y="2663480"/>
            <a:ext cx="7223962" cy="33715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89823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REPLACE</a:t>
            </a:r>
            <a:r>
              <a:rPr lang="en-US" sz="2800">
                <a:latin typeface="Quattrocento Sans"/>
                <a:ea typeface="Quattrocento Sans"/>
                <a:cs typeface="Quattrocento Sans"/>
                <a:sym typeface="Quattrocento Sans"/>
              </a:rPr>
              <a:t>(char old, char new)</a:t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32124" y="1633298"/>
            <a:ext cx="107277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Metode replace adalah bertujuan untuk mengganti karakter dalam string dengan karakter lain.</a:t>
            </a:r>
            <a:endParaRPr sz="36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4" name="Google Shape;7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987" y="2914120"/>
            <a:ext cx="8214836" cy="284273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 sz="2800">
                <a:latin typeface="Quattrocento Sans"/>
                <a:ea typeface="Quattrocento Sans"/>
                <a:cs typeface="Quattrocento Sans"/>
                <a:sym typeface="Quattrocento Sans"/>
              </a:rPr>
              <a:t>ValueOf(int value)</a:t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732124" y="1633298"/>
            <a:ext cx="107277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Metode ValueOf berfungsi untuk melakukan konversi dari tipe data selain String ke tipe data String</a:t>
            </a:r>
            <a:endParaRPr/>
          </a:p>
        </p:txBody>
      </p:sp>
      <p:pic>
        <p:nvPicPr>
          <p:cNvPr id="82" name="Google Shape;8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757" y="2833626"/>
            <a:ext cx="6596359" cy="321944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CONCAT</a:t>
            </a:r>
            <a:r>
              <a:rPr lang="en-US" sz="2800">
                <a:latin typeface="Quattrocento Sans"/>
                <a:ea typeface="Quattrocento Sans"/>
                <a:cs typeface="Quattrocento Sans"/>
                <a:sym typeface="Quattrocento Sans"/>
              </a:rPr>
              <a:t>() </a:t>
            </a:r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732124" y="1633298"/>
            <a:ext cx="1072775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Metode concat digunakan ketika kita ingin menggabungkan dua String menjadi satu variabel.</a:t>
            </a:r>
            <a:endParaRPr/>
          </a:p>
        </p:txBody>
      </p:sp>
      <p:pic>
        <p:nvPicPr>
          <p:cNvPr id="90" name="Google Shape;9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0794" y="2986951"/>
            <a:ext cx="7716409" cy="287293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6625" y="321173"/>
            <a:ext cx="2765375" cy="27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ISEMPTY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732124" y="1633298"/>
            <a:ext cx="10727752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Metode isEmpty() digunakan untuk melakukan pengecekan sebuah variabel mempunyai nilai atau tidak. </a:t>
            </a:r>
            <a:endParaRPr sz="3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8" name="Google Shape;9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163" y="2758946"/>
            <a:ext cx="8530700" cy="322973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>
            <a:spLocks noGrp="1"/>
          </p:cNvSpPr>
          <p:nvPr>
            <p:ph type="title"/>
          </p:nvPr>
        </p:nvSpPr>
        <p:spPr>
          <a:xfrm>
            <a:off x="2423884" y="966619"/>
            <a:ext cx="734423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>
                <a:latin typeface="Quattrocento Sans"/>
                <a:ea typeface="Quattrocento Sans"/>
                <a:cs typeface="Quattrocento Sans"/>
                <a:sym typeface="Quattrocento Sans"/>
              </a:rPr>
              <a:t>SELESAI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211</Words>
  <Application>Microsoft Office PowerPoint</Application>
  <PresentationFormat>Widescreen</PresentationFormat>
  <Paragraphs>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Quattrocento Sans</vt:lpstr>
      <vt:lpstr>WelcomeDoc</vt:lpstr>
      <vt:lpstr>PEMROGRAMAN BERORIENTASI OBJEK</vt:lpstr>
      <vt:lpstr>PENGENALAN</vt:lpstr>
      <vt:lpstr>Fungsi built-in String dalam Java</vt:lpstr>
      <vt:lpstr>CHARAT</vt:lpstr>
      <vt:lpstr>EQUALS</vt:lpstr>
      <vt:lpstr>EQUALS</vt:lpstr>
      <vt:lpstr>REPLACE(char old, char new)</vt:lpstr>
      <vt:lpstr>ValueOf(int value)</vt:lpstr>
      <vt:lpstr>CONCAT() </vt:lpstr>
      <vt:lpstr>ISEMPTY</vt:lpstr>
      <vt:lpstr>SELESAI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aluns_000</dc:creator>
  <cp:lastModifiedBy>Yulhan Wahyudin</cp:lastModifiedBy>
  <cp:revision>7</cp:revision>
  <dcterms:created xsi:type="dcterms:W3CDTF">2020-10-07T02:02:11Z</dcterms:created>
  <dcterms:modified xsi:type="dcterms:W3CDTF">2025-05-15T09:31:09Z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